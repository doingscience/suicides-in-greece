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032e7912fb_0_1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032e7912fb_0_1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032e7912fb_0_1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032e7912fb_0_1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032e7912fb_0_1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032e7912fb_0_1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032e7912fb_0_1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032e7912fb_0_1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032e7912fb_0_1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032e7912fb_0_1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32e7912fb_0_1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032e7912fb_0_1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032e7912fb_0_1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032e7912fb_0_1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032e7912fb_0_1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032e7912fb_0_1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32e7912fb_0_1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32e7912fb_0_1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032e7912fb_0_1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032e7912fb_0_1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032e7912fb_0_1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032e7912fb_0_1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032e7912fb_0_1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032e7912fb_0_1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032e7912fb_0_1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032e7912fb_0_1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Data Visualization and Communication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200"/>
              <a:t>An Analysis of Suicide Trends in Greece, 2011-2015 </a:t>
            </a:r>
            <a:endParaRPr sz="2200"/>
          </a:p>
        </p:txBody>
      </p:sp>
      <p:sp>
        <p:nvSpPr>
          <p:cNvPr id="56" name="Google Shape;56;p13"/>
          <p:cNvSpPr txBox="1"/>
          <p:nvPr>
            <p:ph idx="1" type="subTitle"/>
          </p:nvPr>
        </p:nvSpPr>
        <p:spPr>
          <a:xfrm>
            <a:off x="449475" y="40902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200"/>
              <a:t>Tragakis Iasonas</a:t>
            </a:r>
            <a:endParaRPr sz="2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sp>
        <p:nvSpPr>
          <p:cNvPr id="62" name="Google Shape;62;p14"/>
          <p:cNvSpPr txBox="1"/>
          <p:nvPr>
            <p:ph idx="1" type="body"/>
          </p:nvPr>
        </p:nvSpPr>
        <p:spPr>
          <a:xfrm>
            <a:off x="311700" y="1152475"/>
            <a:ext cx="5868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000">
                <a:solidFill>
                  <a:schemeClr val="dk1"/>
                </a:solidFill>
              </a:rPr>
              <a:t>Our analysis will rely on datasets from Eurostat and the World Health Organization (WHO) for the period 2011 - 2015. </a:t>
            </a:r>
            <a:endParaRPr sz="1000">
              <a:solidFill>
                <a:schemeClr val="dk1"/>
              </a:solidFill>
            </a:endParaRPr>
          </a:p>
          <a:p>
            <a:pPr indent="0" lvl="0" marL="0" rtl="0" algn="just">
              <a:spcBef>
                <a:spcPts val="1200"/>
              </a:spcBef>
              <a:spcAft>
                <a:spcPts val="1200"/>
              </a:spcAft>
              <a:buNone/>
            </a:pPr>
            <a:r>
              <a:rPr lang="en" sz="1000">
                <a:solidFill>
                  <a:schemeClr val="dk1"/>
                </a:solidFill>
              </a:rPr>
              <a:t>In our analysis we will mainly use sucide rates of a population adjusted to a standard age distribution and calculated on the basis of a standard European population (defined by the World Health Organization). Absolutes numbers or even not adjusted rates are proportional to the population size, so the bigger the population the more the suicides. </a:t>
            </a:r>
            <a:br>
              <a:rPr lang="en" sz="1000">
                <a:solidFill>
                  <a:schemeClr val="dk1"/>
                </a:solidFill>
              </a:rPr>
            </a:br>
            <a:r>
              <a:rPr lang="en" sz="1000">
                <a:solidFill>
                  <a:schemeClr val="dk1"/>
                </a:solidFill>
              </a:rPr>
              <a:t>Also as most causes of suicide vary significantly with people's age and sex, the use of standardised suicide rates improves comparability over time and between countries as they aim at measuring suicide rates independently of different demographic compositions. Finally in terms of reproducibility of our analysis it worth mentioning that Eurostat and the World Health Organization (WHO) have stopped providing absolute suicide numbers. We will only use absolute suicide numbers for comparisons between age groups and sex in Greece, in order to backup part of our analysis.</a:t>
            </a:r>
            <a:endParaRPr sz="1000">
              <a:solidFill>
                <a:schemeClr val="dk1"/>
              </a:solidFill>
            </a:endParaRPr>
          </a:p>
        </p:txBody>
      </p:sp>
      <p:pic>
        <p:nvPicPr>
          <p:cNvPr id="63" name="Google Shape;63;p14"/>
          <p:cNvPicPr preferRelativeResize="0"/>
          <p:nvPr/>
        </p:nvPicPr>
        <p:blipFill>
          <a:blip r:embed="rId3">
            <a:alphaModFix/>
          </a:blip>
          <a:stretch>
            <a:fillRect/>
          </a:stretch>
        </p:blipFill>
        <p:spPr>
          <a:xfrm>
            <a:off x="6946625" y="2735502"/>
            <a:ext cx="1792825" cy="745525"/>
          </a:xfrm>
          <a:prstGeom prst="rect">
            <a:avLst/>
          </a:prstGeom>
          <a:noFill/>
          <a:ln>
            <a:noFill/>
          </a:ln>
        </p:spPr>
      </p:pic>
      <p:pic>
        <p:nvPicPr>
          <p:cNvPr id="64" name="Google Shape;64;p14"/>
          <p:cNvPicPr preferRelativeResize="0"/>
          <p:nvPr/>
        </p:nvPicPr>
        <p:blipFill>
          <a:blip r:embed="rId4">
            <a:alphaModFix/>
          </a:blip>
          <a:stretch>
            <a:fillRect/>
          </a:stretch>
        </p:blipFill>
        <p:spPr>
          <a:xfrm>
            <a:off x="6910525" y="1176850"/>
            <a:ext cx="1865026" cy="901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71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chemeClr val="dk2"/>
                </a:solidFill>
              </a:rPr>
              <a:t>Suicide Trends in Europe</a:t>
            </a:r>
            <a:endParaRPr/>
          </a:p>
        </p:txBody>
      </p:sp>
      <p:sp>
        <p:nvSpPr>
          <p:cNvPr id="70" name="Google Shape;70;p15"/>
          <p:cNvSpPr txBox="1"/>
          <p:nvPr>
            <p:ph idx="1" type="body"/>
          </p:nvPr>
        </p:nvSpPr>
        <p:spPr>
          <a:xfrm>
            <a:off x="4849000" y="1152475"/>
            <a:ext cx="3983400" cy="9585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t>During </a:t>
            </a:r>
            <a:r>
              <a:rPr b="1" lang="en" sz="1000"/>
              <a:t>2011 2012 </a:t>
            </a:r>
            <a:r>
              <a:rPr lang="en" sz="1000"/>
              <a:t>suicides remained </a:t>
            </a:r>
            <a:r>
              <a:rPr b="1" lang="en" sz="1000"/>
              <a:t>stable</a:t>
            </a:r>
            <a:endParaRPr b="1" sz="1000"/>
          </a:p>
          <a:p>
            <a:pPr indent="-292100" lvl="0" marL="457200" rtl="0" algn="l">
              <a:spcBef>
                <a:spcPts val="0"/>
              </a:spcBef>
              <a:spcAft>
                <a:spcPts val="0"/>
              </a:spcAft>
              <a:buSzPts val="1000"/>
              <a:buChar char="●"/>
            </a:pPr>
            <a:r>
              <a:rPr lang="en" sz="1000"/>
              <a:t>The following years we inspect a </a:t>
            </a:r>
            <a:r>
              <a:rPr b="1" lang="en" sz="1000"/>
              <a:t>gradual decrease</a:t>
            </a:r>
            <a:endParaRPr b="1" sz="1000"/>
          </a:p>
          <a:p>
            <a:pPr indent="-292100" lvl="0" marL="457200" rtl="0" algn="l">
              <a:spcBef>
                <a:spcPts val="0"/>
              </a:spcBef>
              <a:spcAft>
                <a:spcPts val="0"/>
              </a:spcAft>
              <a:buSzPts val="1000"/>
              <a:buChar char="●"/>
            </a:pPr>
            <a:r>
              <a:rPr b="1" lang="en" sz="1000"/>
              <a:t>2011 is the highest peak of 12.39 in 100k people </a:t>
            </a:r>
            <a:endParaRPr b="1" sz="1000"/>
          </a:p>
        </p:txBody>
      </p:sp>
      <p:pic>
        <p:nvPicPr>
          <p:cNvPr id="71" name="Google Shape;71;p15"/>
          <p:cNvPicPr preferRelativeResize="0"/>
          <p:nvPr/>
        </p:nvPicPr>
        <p:blipFill>
          <a:blip r:embed="rId3">
            <a:alphaModFix/>
          </a:blip>
          <a:stretch>
            <a:fillRect/>
          </a:stretch>
        </p:blipFill>
        <p:spPr>
          <a:xfrm>
            <a:off x="311700" y="1152475"/>
            <a:ext cx="3912024" cy="3184801"/>
          </a:xfrm>
          <a:prstGeom prst="rect">
            <a:avLst/>
          </a:prstGeom>
          <a:noFill/>
          <a:ln>
            <a:noFill/>
          </a:ln>
        </p:spPr>
      </p:pic>
      <p:pic>
        <p:nvPicPr>
          <p:cNvPr id="72" name="Google Shape;72;p15"/>
          <p:cNvPicPr preferRelativeResize="0"/>
          <p:nvPr/>
        </p:nvPicPr>
        <p:blipFill>
          <a:blip r:embed="rId4">
            <a:alphaModFix/>
          </a:blip>
          <a:stretch>
            <a:fillRect/>
          </a:stretch>
        </p:blipFill>
        <p:spPr>
          <a:xfrm>
            <a:off x="4785449" y="2153750"/>
            <a:ext cx="3951136" cy="2727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719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dk2"/>
                </a:solidFill>
              </a:rPr>
              <a:t>Suicide Trends in Greece</a:t>
            </a:r>
            <a:endParaRPr/>
          </a:p>
        </p:txBody>
      </p:sp>
      <p:sp>
        <p:nvSpPr>
          <p:cNvPr id="78" name="Google Shape;78;p16"/>
          <p:cNvSpPr txBox="1"/>
          <p:nvPr>
            <p:ph idx="1" type="body"/>
          </p:nvPr>
        </p:nvSpPr>
        <p:spPr>
          <a:xfrm>
            <a:off x="5001400" y="1174750"/>
            <a:ext cx="3983400" cy="1088700"/>
          </a:xfrm>
          <a:prstGeom prst="rect">
            <a:avLst/>
          </a:prstGeom>
        </p:spPr>
        <p:txBody>
          <a:bodyPr anchorCtr="0" anchor="t" bIns="91425" lIns="91425" spcFirstLastPara="1" rIns="91425" wrap="square" tIns="91425">
            <a:normAutofit fontScale="92500" lnSpcReduction="10000"/>
          </a:bodyPr>
          <a:lstStyle/>
          <a:p>
            <a:pPr indent="-287337" lvl="0" marL="457200" rtl="0" algn="l">
              <a:spcBef>
                <a:spcPts val="0"/>
              </a:spcBef>
              <a:spcAft>
                <a:spcPts val="0"/>
              </a:spcAft>
              <a:buSzPct val="100000"/>
              <a:buChar char="●"/>
            </a:pPr>
            <a:r>
              <a:rPr lang="en" sz="1000"/>
              <a:t>During </a:t>
            </a:r>
            <a:r>
              <a:rPr b="1" lang="en" sz="1000"/>
              <a:t>2011 2014</a:t>
            </a:r>
            <a:r>
              <a:rPr lang="en" sz="1000"/>
              <a:t> </a:t>
            </a:r>
            <a:r>
              <a:rPr lang="en" sz="1000"/>
              <a:t>we inspect an </a:t>
            </a:r>
            <a:r>
              <a:rPr b="1" lang="en" sz="1000"/>
              <a:t>upward trend</a:t>
            </a:r>
            <a:endParaRPr b="1" sz="1000"/>
          </a:p>
          <a:p>
            <a:pPr indent="-287337" lvl="0" marL="457200" rtl="0" algn="l">
              <a:spcBef>
                <a:spcPts val="0"/>
              </a:spcBef>
              <a:spcAft>
                <a:spcPts val="0"/>
              </a:spcAft>
              <a:buSzPct val="100000"/>
              <a:buChar char="●"/>
            </a:pPr>
            <a:r>
              <a:rPr b="1" lang="en" sz="1000"/>
              <a:t>In 2014 we have a peak at ~5 in 100k people, which is followed by a drop 0f 6% to 2013 levels</a:t>
            </a:r>
            <a:endParaRPr b="1" sz="1000"/>
          </a:p>
          <a:p>
            <a:pPr indent="-287337" lvl="0" marL="457200" rtl="0" algn="l">
              <a:spcBef>
                <a:spcPts val="0"/>
              </a:spcBef>
              <a:spcAft>
                <a:spcPts val="0"/>
              </a:spcAft>
              <a:buSzPct val="100000"/>
              <a:buChar char="●"/>
            </a:pPr>
            <a:r>
              <a:rPr lang="en" sz="1000"/>
              <a:t>Greece suicide rate is on average </a:t>
            </a:r>
            <a:r>
              <a:rPr b="1" lang="en" sz="1000"/>
              <a:t>2.6</a:t>
            </a:r>
            <a:r>
              <a:rPr lang="en" sz="1000"/>
              <a:t> </a:t>
            </a:r>
            <a:r>
              <a:rPr b="1" lang="en" sz="1000"/>
              <a:t>lower than EU</a:t>
            </a:r>
            <a:r>
              <a:rPr lang="en" sz="1000"/>
              <a:t> average</a:t>
            </a:r>
            <a:endParaRPr sz="1000"/>
          </a:p>
          <a:p>
            <a:pPr indent="-287337" lvl="0" marL="457200" rtl="0" algn="l">
              <a:spcBef>
                <a:spcPts val="0"/>
              </a:spcBef>
              <a:spcAft>
                <a:spcPts val="0"/>
              </a:spcAft>
              <a:buSzPct val="100000"/>
              <a:buChar char="●"/>
            </a:pPr>
            <a:r>
              <a:rPr lang="en" sz="1000"/>
              <a:t>Suicides in Greece seem to </a:t>
            </a:r>
            <a:r>
              <a:rPr lang="en" sz="1000"/>
              <a:t>follow </a:t>
            </a:r>
            <a:r>
              <a:rPr b="1" lang="en" sz="1000"/>
              <a:t>opposite trend from EU</a:t>
            </a:r>
            <a:r>
              <a:rPr lang="en" sz="1000"/>
              <a:t> average </a:t>
            </a:r>
            <a:endParaRPr sz="1000"/>
          </a:p>
        </p:txBody>
      </p:sp>
      <p:pic>
        <p:nvPicPr>
          <p:cNvPr id="79" name="Google Shape;79;p16"/>
          <p:cNvPicPr preferRelativeResize="0"/>
          <p:nvPr/>
        </p:nvPicPr>
        <p:blipFill>
          <a:blip r:embed="rId3">
            <a:alphaModFix/>
          </a:blip>
          <a:stretch>
            <a:fillRect/>
          </a:stretch>
        </p:blipFill>
        <p:spPr>
          <a:xfrm>
            <a:off x="247300" y="1152475"/>
            <a:ext cx="4601701" cy="3177650"/>
          </a:xfrm>
          <a:prstGeom prst="rect">
            <a:avLst/>
          </a:prstGeom>
          <a:noFill/>
          <a:ln>
            <a:noFill/>
          </a:ln>
        </p:spPr>
      </p:pic>
      <p:pic>
        <p:nvPicPr>
          <p:cNvPr id="80" name="Google Shape;80;p16"/>
          <p:cNvPicPr preferRelativeResize="0"/>
          <p:nvPr/>
        </p:nvPicPr>
        <p:blipFill>
          <a:blip r:embed="rId4">
            <a:alphaModFix/>
          </a:blip>
          <a:stretch>
            <a:fillRect/>
          </a:stretch>
        </p:blipFill>
        <p:spPr>
          <a:xfrm>
            <a:off x="5001401" y="2263375"/>
            <a:ext cx="3951136" cy="2727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71925"/>
            <a:ext cx="8520600" cy="57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AutoNum type="alphaUcPeriod"/>
            </a:pPr>
            <a:r>
              <a:rPr lang="en" sz="1800">
                <a:solidFill>
                  <a:schemeClr val="dk2"/>
                </a:solidFill>
              </a:rPr>
              <a:t>Suicide Trends in Europe by country and year</a:t>
            </a:r>
            <a:endParaRPr/>
          </a:p>
        </p:txBody>
      </p:sp>
      <p:sp>
        <p:nvSpPr>
          <p:cNvPr id="86" name="Google Shape;86;p17"/>
          <p:cNvSpPr txBox="1"/>
          <p:nvPr>
            <p:ph idx="1" type="body"/>
          </p:nvPr>
        </p:nvSpPr>
        <p:spPr>
          <a:xfrm>
            <a:off x="6229525" y="1174750"/>
            <a:ext cx="2755200" cy="37869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b="1" lang="en" sz="1000"/>
              <a:t>Greece, Cyprus, Iceland, Netherlands, Portugal, Spain, Luxembourg, Turkey, UK  indicate an upward trend</a:t>
            </a:r>
            <a:endParaRPr b="1" sz="1000"/>
          </a:p>
          <a:p>
            <a:pPr indent="-292100" lvl="0" marL="457200" rtl="0" algn="l">
              <a:spcBef>
                <a:spcPts val="0"/>
              </a:spcBef>
              <a:spcAft>
                <a:spcPts val="0"/>
              </a:spcAft>
              <a:buSzPts val="1000"/>
              <a:buChar char="●"/>
            </a:pPr>
            <a:r>
              <a:rPr b="1" lang="en" sz="1000"/>
              <a:t>Most of the countries in EU</a:t>
            </a:r>
            <a:r>
              <a:rPr lang="en" sz="1000"/>
              <a:t> indicate a </a:t>
            </a:r>
            <a:r>
              <a:rPr b="1" lang="en" sz="1000"/>
              <a:t>downward trend</a:t>
            </a:r>
            <a:r>
              <a:rPr lang="en" sz="1000"/>
              <a:t> or remain stable</a:t>
            </a:r>
            <a:endParaRPr sz="1000"/>
          </a:p>
          <a:p>
            <a:pPr indent="0" lvl="0" marL="457200" rtl="0" algn="l">
              <a:spcBef>
                <a:spcPts val="1200"/>
              </a:spcBef>
              <a:spcAft>
                <a:spcPts val="1200"/>
              </a:spcAft>
              <a:buNone/>
            </a:pPr>
            <a:r>
              <a:t/>
            </a:r>
            <a:endParaRPr sz="1000"/>
          </a:p>
        </p:txBody>
      </p:sp>
      <p:pic>
        <p:nvPicPr>
          <p:cNvPr id="87" name="Google Shape;87;p17"/>
          <p:cNvPicPr preferRelativeResize="0"/>
          <p:nvPr/>
        </p:nvPicPr>
        <p:blipFill>
          <a:blip r:embed="rId3">
            <a:alphaModFix/>
          </a:blip>
          <a:stretch>
            <a:fillRect/>
          </a:stretch>
        </p:blipFill>
        <p:spPr>
          <a:xfrm>
            <a:off x="269350" y="970675"/>
            <a:ext cx="5960173" cy="408328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71925"/>
            <a:ext cx="8520600" cy="57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AutoNum type="alphaUcPeriod"/>
            </a:pPr>
            <a:r>
              <a:rPr lang="en" sz="1800">
                <a:solidFill>
                  <a:schemeClr val="dk2"/>
                </a:solidFill>
              </a:rPr>
              <a:t>Suicide Trends in Europe by country and year (cont.)</a:t>
            </a:r>
            <a:endParaRPr/>
          </a:p>
        </p:txBody>
      </p:sp>
      <p:sp>
        <p:nvSpPr>
          <p:cNvPr id="93" name="Google Shape;93;p18"/>
          <p:cNvSpPr txBox="1"/>
          <p:nvPr>
            <p:ph idx="1" type="body"/>
          </p:nvPr>
        </p:nvSpPr>
        <p:spPr>
          <a:xfrm>
            <a:off x="6229525" y="1174750"/>
            <a:ext cx="2755200" cy="35823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t>Greece, Cyprus, Iceland, Netherlands, Portugal, Spain, Luxembourg, Turkey, UK  indicate an upward trend.</a:t>
            </a:r>
            <a:endParaRPr sz="1000"/>
          </a:p>
          <a:p>
            <a:pPr indent="-292100" lvl="0" marL="457200" rtl="0" algn="l">
              <a:spcBef>
                <a:spcPts val="0"/>
              </a:spcBef>
              <a:spcAft>
                <a:spcPts val="0"/>
              </a:spcAft>
              <a:buSzPts val="1000"/>
              <a:buChar char="●"/>
            </a:pPr>
            <a:r>
              <a:rPr lang="en" sz="1000"/>
              <a:t>If we inspect y axis scale (or better max-min range) Iceland and Luxembourg showed the highest increase in max-min range, among them.</a:t>
            </a:r>
            <a:endParaRPr sz="1000"/>
          </a:p>
          <a:p>
            <a:pPr indent="-292100" lvl="0" marL="457200" rtl="0" algn="l">
              <a:spcBef>
                <a:spcPts val="0"/>
              </a:spcBef>
              <a:spcAft>
                <a:spcPts val="0"/>
              </a:spcAft>
              <a:buSzPts val="1000"/>
              <a:buChar char="●"/>
            </a:pPr>
            <a:r>
              <a:rPr b="1" lang="en" sz="1000"/>
              <a:t>Even if Greece indicates and upward trend in comparison to the others seems insignificant.</a:t>
            </a:r>
            <a:endParaRPr b="1" sz="1000"/>
          </a:p>
          <a:p>
            <a:pPr indent="0" lvl="0" marL="457200" rtl="0" algn="l">
              <a:spcBef>
                <a:spcPts val="1200"/>
              </a:spcBef>
              <a:spcAft>
                <a:spcPts val="0"/>
              </a:spcAft>
              <a:buNone/>
            </a:pPr>
            <a:r>
              <a:t/>
            </a:r>
            <a:endParaRPr sz="1000"/>
          </a:p>
          <a:p>
            <a:pPr indent="0" lvl="0" marL="457200" rtl="0" algn="l">
              <a:spcBef>
                <a:spcPts val="1200"/>
              </a:spcBef>
              <a:spcAft>
                <a:spcPts val="1200"/>
              </a:spcAft>
              <a:buNone/>
            </a:pPr>
            <a:r>
              <a:t/>
            </a:r>
            <a:endParaRPr sz="1000"/>
          </a:p>
        </p:txBody>
      </p:sp>
      <p:pic>
        <p:nvPicPr>
          <p:cNvPr id="94" name="Google Shape;94;p18"/>
          <p:cNvPicPr preferRelativeResize="0"/>
          <p:nvPr/>
        </p:nvPicPr>
        <p:blipFill>
          <a:blip r:embed="rId3">
            <a:alphaModFix/>
          </a:blip>
          <a:stretch>
            <a:fillRect/>
          </a:stretch>
        </p:blipFill>
        <p:spPr>
          <a:xfrm>
            <a:off x="371675" y="1044625"/>
            <a:ext cx="5228286" cy="37940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719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dk2"/>
                </a:solidFill>
              </a:rPr>
              <a:t>B.	</a:t>
            </a:r>
            <a:r>
              <a:rPr lang="en" sz="1800">
                <a:solidFill>
                  <a:schemeClr val="dk2"/>
                </a:solidFill>
              </a:rPr>
              <a:t>Suicide Trends in Europe by country and year</a:t>
            </a:r>
            <a:endParaRPr/>
          </a:p>
        </p:txBody>
      </p:sp>
      <p:sp>
        <p:nvSpPr>
          <p:cNvPr id="100" name="Google Shape;100;p19"/>
          <p:cNvSpPr txBox="1"/>
          <p:nvPr>
            <p:ph idx="1" type="body"/>
          </p:nvPr>
        </p:nvSpPr>
        <p:spPr>
          <a:xfrm>
            <a:off x="5945400" y="1174750"/>
            <a:ext cx="2886900" cy="35382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t>We have used EU average suicide rate (2011-2015) as threshold. Green are the countries with lower rates than EU threshold, red are the countries with higher rates than EU. </a:t>
            </a:r>
            <a:endParaRPr sz="1000"/>
          </a:p>
          <a:p>
            <a:pPr indent="-292100" lvl="0" marL="457200" rtl="0" algn="l">
              <a:spcBef>
                <a:spcPts val="0"/>
              </a:spcBef>
              <a:spcAft>
                <a:spcPts val="0"/>
              </a:spcAft>
              <a:buSzPts val="1000"/>
              <a:buChar char="●"/>
            </a:pPr>
            <a:r>
              <a:rPr lang="en" sz="1000"/>
              <a:t>Again we see that Greece in comparison to other </a:t>
            </a:r>
            <a:r>
              <a:rPr lang="en" sz="1000"/>
              <a:t>countries</a:t>
            </a:r>
            <a:r>
              <a:rPr lang="en" sz="1000"/>
              <a:t> stay dark green during 2011-2015. In others words we can say that </a:t>
            </a:r>
            <a:r>
              <a:rPr b="1" lang="en" sz="1000"/>
              <a:t>Greece remains stable and at low levels</a:t>
            </a:r>
            <a:r>
              <a:rPr lang="en" sz="1000"/>
              <a:t>.</a:t>
            </a:r>
            <a:endParaRPr sz="1000"/>
          </a:p>
        </p:txBody>
      </p:sp>
      <p:pic>
        <p:nvPicPr>
          <p:cNvPr id="101" name="Google Shape;101;p19"/>
          <p:cNvPicPr preferRelativeResize="0"/>
          <p:nvPr/>
        </p:nvPicPr>
        <p:blipFill>
          <a:blip r:embed="rId3">
            <a:alphaModFix/>
          </a:blip>
          <a:stretch>
            <a:fillRect/>
          </a:stretch>
        </p:blipFill>
        <p:spPr>
          <a:xfrm>
            <a:off x="276650" y="1044625"/>
            <a:ext cx="5226276" cy="3794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719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dk2"/>
                </a:solidFill>
              </a:rPr>
              <a:t>Α</a:t>
            </a:r>
            <a:r>
              <a:rPr lang="en" sz="1800">
                <a:solidFill>
                  <a:schemeClr val="dk2"/>
                </a:solidFill>
              </a:rPr>
              <a:t>.	Suicide Trends in Europe by country, 2014</a:t>
            </a:r>
            <a:endParaRPr/>
          </a:p>
        </p:txBody>
      </p:sp>
      <p:sp>
        <p:nvSpPr>
          <p:cNvPr id="107" name="Google Shape;107;p20"/>
          <p:cNvSpPr txBox="1"/>
          <p:nvPr>
            <p:ph idx="1" type="body"/>
          </p:nvPr>
        </p:nvSpPr>
        <p:spPr>
          <a:xfrm>
            <a:off x="5945400" y="1174750"/>
            <a:ext cx="2886900" cy="35382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t>We selected 2014 which Greece has the highest sucide rate during the period 2011-2015.</a:t>
            </a:r>
            <a:endParaRPr sz="1000"/>
          </a:p>
          <a:p>
            <a:pPr indent="-292100" lvl="0" marL="457200" rtl="0" algn="l">
              <a:spcBef>
                <a:spcPts val="0"/>
              </a:spcBef>
              <a:spcAft>
                <a:spcPts val="0"/>
              </a:spcAft>
              <a:buSzPts val="1000"/>
              <a:buChar char="●"/>
            </a:pPr>
            <a:r>
              <a:rPr lang="en" sz="1000"/>
              <a:t>Again we see that </a:t>
            </a:r>
            <a:r>
              <a:rPr b="1" lang="en" sz="1000"/>
              <a:t>Greece</a:t>
            </a:r>
            <a:r>
              <a:rPr lang="en" sz="1000"/>
              <a:t>,even in its high peak, </a:t>
            </a:r>
            <a:r>
              <a:rPr b="1" lang="en" sz="1000"/>
              <a:t>is the 3rd lowest</a:t>
            </a:r>
            <a:r>
              <a:rPr lang="en" sz="1000"/>
              <a:t> among other EU countries.</a:t>
            </a:r>
            <a:endParaRPr sz="1000"/>
          </a:p>
        </p:txBody>
      </p:sp>
      <p:pic>
        <p:nvPicPr>
          <p:cNvPr id="108" name="Google Shape;108;p20"/>
          <p:cNvPicPr preferRelativeResize="0"/>
          <p:nvPr/>
        </p:nvPicPr>
        <p:blipFill>
          <a:blip r:embed="rId3">
            <a:alphaModFix/>
          </a:blip>
          <a:stretch>
            <a:fillRect/>
          </a:stretch>
        </p:blipFill>
        <p:spPr>
          <a:xfrm>
            <a:off x="371675" y="1080075"/>
            <a:ext cx="5226276" cy="3794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719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dk2"/>
                </a:solidFill>
              </a:rPr>
              <a:t>Β</a:t>
            </a:r>
            <a:r>
              <a:rPr lang="en" sz="1800">
                <a:solidFill>
                  <a:schemeClr val="dk2"/>
                </a:solidFill>
              </a:rPr>
              <a:t>.	Suicide Trends in Europe by country, 2014</a:t>
            </a:r>
            <a:endParaRPr/>
          </a:p>
        </p:txBody>
      </p:sp>
      <p:sp>
        <p:nvSpPr>
          <p:cNvPr id="114" name="Google Shape;114;p21"/>
          <p:cNvSpPr txBox="1"/>
          <p:nvPr>
            <p:ph idx="1" type="body"/>
          </p:nvPr>
        </p:nvSpPr>
        <p:spPr>
          <a:xfrm>
            <a:off x="5945400" y="1174750"/>
            <a:ext cx="2528100" cy="35382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t>Coastal countries especial </a:t>
            </a:r>
            <a:r>
              <a:rPr lang="en" sz="1000"/>
              <a:t>Mediterranean c</a:t>
            </a:r>
            <a:r>
              <a:rPr lang="en" sz="1000"/>
              <a:t>ounties seem</a:t>
            </a:r>
            <a:r>
              <a:rPr lang="en" sz="1000"/>
              <a:t> to have lower suicide rates than continental countries. </a:t>
            </a:r>
            <a:endParaRPr sz="1000"/>
          </a:p>
        </p:txBody>
      </p:sp>
      <p:pic>
        <p:nvPicPr>
          <p:cNvPr id="115" name="Google Shape;115;p21"/>
          <p:cNvPicPr preferRelativeResize="0"/>
          <p:nvPr/>
        </p:nvPicPr>
        <p:blipFill>
          <a:blip r:embed="rId3">
            <a:alphaModFix/>
          </a:blip>
          <a:stretch>
            <a:fillRect/>
          </a:stretch>
        </p:blipFill>
        <p:spPr>
          <a:xfrm>
            <a:off x="435948" y="1102250"/>
            <a:ext cx="5235999" cy="37996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719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dk2"/>
                </a:solidFill>
              </a:rPr>
              <a:t>Suicide Trends in Europe by country, 2011 vs 2014</a:t>
            </a:r>
            <a:endParaRPr/>
          </a:p>
        </p:txBody>
      </p:sp>
      <p:sp>
        <p:nvSpPr>
          <p:cNvPr id="121" name="Google Shape;121;p22"/>
          <p:cNvSpPr txBox="1"/>
          <p:nvPr>
            <p:ph idx="1" type="body"/>
          </p:nvPr>
        </p:nvSpPr>
        <p:spPr>
          <a:xfrm>
            <a:off x="5945400" y="1174750"/>
            <a:ext cx="2528100" cy="35382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t>Countries that are located on near the x=y line, indicate a small </a:t>
            </a:r>
            <a:r>
              <a:rPr lang="en" sz="1000"/>
              <a:t>change. Counties far from the line, indicate a big change.</a:t>
            </a:r>
            <a:endParaRPr sz="1000"/>
          </a:p>
          <a:p>
            <a:pPr indent="-292100" lvl="0" marL="457200" rtl="0" algn="l">
              <a:spcBef>
                <a:spcPts val="0"/>
              </a:spcBef>
              <a:spcAft>
                <a:spcPts val="0"/>
              </a:spcAft>
              <a:buSzPts val="1000"/>
              <a:buChar char="●"/>
            </a:pPr>
            <a:r>
              <a:rPr lang="en" sz="1000"/>
              <a:t>Countries with red color indicate that suicide rate increased. Countries with green color indicate that suicide rate decreased.</a:t>
            </a:r>
            <a:endParaRPr sz="1000"/>
          </a:p>
          <a:p>
            <a:pPr indent="-292100" lvl="0" marL="457200" rtl="0" algn="l">
              <a:spcBef>
                <a:spcPts val="0"/>
              </a:spcBef>
              <a:spcAft>
                <a:spcPts val="0"/>
              </a:spcAft>
              <a:buSzPts val="1000"/>
              <a:buChar char="●"/>
            </a:pPr>
            <a:r>
              <a:rPr lang="en" sz="1000"/>
              <a:t>Dashed lines  pass through EU suicide rate.</a:t>
            </a:r>
            <a:endParaRPr sz="1000"/>
          </a:p>
          <a:p>
            <a:pPr indent="-292100" lvl="0" marL="457200" rtl="0" algn="l">
              <a:spcBef>
                <a:spcPts val="0"/>
              </a:spcBef>
              <a:spcAft>
                <a:spcPts val="0"/>
              </a:spcAft>
              <a:buSzPts val="1000"/>
              <a:buChar char="●"/>
            </a:pPr>
            <a:r>
              <a:rPr lang="en" sz="1000"/>
              <a:t>Greece is at the bottom left square and near the line, even if it has red color. </a:t>
            </a:r>
            <a:endParaRPr sz="1000"/>
          </a:p>
        </p:txBody>
      </p:sp>
      <p:pic>
        <p:nvPicPr>
          <p:cNvPr id="122" name="Google Shape;122;p22"/>
          <p:cNvPicPr preferRelativeResize="0"/>
          <p:nvPr/>
        </p:nvPicPr>
        <p:blipFill>
          <a:blip r:embed="rId3">
            <a:alphaModFix/>
          </a:blip>
          <a:stretch>
            <a:fillRect/>
          </a:stretch>
        </p:blipFill>
        <p:spPr>
          <a:xfrm>
            <a:off x="248500" y="992850"/>
            <a:ext cx="5374925" cy="390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4719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dk2"/>
                </a:solidFill>
              </a:rPr>
              <a:t>Suicide Trends in Greece, 2011-2015</a:t>
            </a:r>
            <a:endParaRPr/>
          </a:p>
        </p:txBody>
      </p:sp>
      <p:sp>
        <p:nvSpPr>
          <p:cNvPr id="128" name="Google Shape;128;p23"/>
          <p:cNvSpPr txBox="1"/>
          <p:nvPr>
            <p:ph idx="1" type="body"/>
          </p:nvPr>
        </p:nvSpPr>
        <p:spPr>
          <a:xfrm>
            <a:off x="6344550" y="876450"/>
            <a:ext cx="2528100" cy="40926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t>In Greece on average 520 people commit suicide per year, and in its high peak we had an increase of 40 people.</a:t>
            </a:r>
            <a:endParaRPr sz="1000"/>
          </a:p>
          <a:p>
            <a:pPr indent="-292100" lvl="0" marL="457200" rtl="0" algn="l">
              <a:spcBef>
                <a:spcPts val="0"/>
              </a:spcBef>
              <a:spcAft>
                <a:spcPts val="0"/>
              </a:spcAft>
              <a:buSzPts val="1000"/>
              <a:buChar char="●"/>
            </a:pPr>
            <a:r>
              <a:rPr lang="en" sz="1000"/>
              <a:t>We can inspect that mostly males commit suicide (~4x more than females) and mostly people between 35-54 years (following by 55-74 years).</a:t>
            </a:r>
            <a:endParaRPr sz="1000"/>
          </a:p>
          <a:p>
            <a:pPr indent="-292100" lvl="0" marL="457200" rtl="0" algn="l">
              <a:spcBef>
                <a:spcPts val="0"/>
              </a:spcBef>
              <a:spcAft>
                <a:spcPts val="0"/>
              </a:spcAft>
              <a:buSzPts val="1000"/>
              <a:buChar char="●"/>
            </a:pPr>
            <a:r>
              <a:rPr lang="en" sz="1000"/>
              <a:t>Based on Greek standards we will assume that people between 35-54 and 55-65 years old belong to the working age population and are </a:t>
            </a:r>
            <a:r>
              <a:rPr lang="en" sz="1000"/>
              <a:t>independent</a:t>
            </a:r>
            <a:r>
              <a:rPr lang="en" sz="1000"/>
              <a:t> from family financial support.</a:t>
            </a:r>
            <a:endParaRPr sz="1000"/>
          </a:p>
          <a:p>
            <a:pPr indent="-292100" lvl="0" marL="457200" rtl="0" algn="l">
              <a:spcBef>
                <a:spcPts val="0"/>
              </a:spcBef>
              <a:spcAft>
                <a:spcPts val="0"/>
              </a:spcAft>
              <a:buSzPts val="1000"/>
              <a:buChar char="●"/>
            </a:pPr>
            <a:r>
              <a:rPr lang="en" sz="1000"/>
              <a:t>Next we will examine if there is a </a:t>
            </a:r>
            <a:r>
              <a:rPr lang="en" sz="1000"/>
              <a:t>correlation</a:t>
            </a:r>
            <a:r>
              <a:rPr lang="en" sz="1000"/>
              <a:t> between suicides and economic factors such as GDP and long term unemployment.</a:t>
            </a:r>
            <a:endParaRPr sz="1000"/>
          </a:p>
          <a:p>
            <a:pPr indent="0" lvl="0" marL="457200" rtl="0" algn="l">
              <a:spcBef>
                <a:spcPts val="1200"/>
              </a:spcBef>
              <a:spcAft>
                <a:spcPts val="1200"/>
              </a:spcAft>
              <a:buNone/>
            </a:pPr>
            <a:r>
              <a:t/>
            </a:r>
            <a:endParaRPr sz="1000"/>
          </a:p>
        </p:txBody>
      </p:sp>
      <p:pic>
        <p:nvPicPr>
          <p:cNvPr id="129" name="Google Shape;129;p23"/>
          <p:cNvPicPr preferRelativeResize="0"/>
          <p:nvPr/>
        </p:nvPicPr>
        <p:blipFill>
          <a:blip r:embed="rId3">
            <a:alphaModFix/>
          </a:blip>
          <a:stretch>
            <a:fillRect/>
          </a:stretch>
        </p:blipFill>
        <p:spPr>
          <a:xfrm>
            <a:off x="163050" y="948138"/>
            <a:ext cx="2859901" cy="1977037"/>
          </a:xfrm>
          <a:prstGeom prst="rect">
            <a:avLst/>
          </a:prstGeom>
          <a:noFill/>
          <a:ln>
            <a:noFill/>
          </a:ln>
        </p:spPr>
      </p:pic>
      <p:pic>
        <p:nvPicPr>
          <p:cNvPr id="130" name="Google Shape;130;p23"/>
          <p:cNvPicPr preferRelativeResize="0"/>
          <p:nvPr/>
        </p:nvPicPr>
        <p:blipFill>
          <a:blip r:embed="rId4">
            <a:alphaModFix/>
          </a:blip>
          <a:stretch>
            <a:fillRect/>
          </a:stretch>
        </p:blipFill>
        <p:spPr>
          <a:xfrm>
            <a:off x="3364550" y="2973425"/>
            <a:ext cx="2859901" cy="2082025"/>
          </a:xfrm>
          <a:prstGeom prst="rect">
            <a:avLst/>
          </a:prstGeom>
          <a:noFill/>
          <a:ln>
            <a:noFill/>
          </a:ln>
        </p:spPr>
      </p:pic>
      <p:pic>
        <p:nvPicPr>
          <p:cNvPr id="131" name="Google Shape;131;p23"/>
          <p:cNvPicPr preferRelativeResize="0"/>
          <p:nvPr/>
        </p:nvPicPr>
        <p:blipFill>
          <a:blip r:embed="rId5">
            <a:alphaModFix/>
          </a:blip>
          <a:stretch>
            <a:fillRect/>
          </a:stretch>
        </p:blipFill>
        <p:spPr>
          <a:xfrm>
            <a:off x="163050" y="2973425"/>
            <a:ext cx="3164649" cy="2082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71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chemeClr val="dk2"/>
                </a:solidFill>
              </a:rPr>
              <a:t>Suicide Trends in Greece, Correlations</a:t>
            </a:r>
            <a:endParaRPr/>
          </a:p>
          <a:p>
            <a:pPr indent="0" lvl="0" marL="0" rtl="0" algn="l">
              <a:spcBef>
                <a:spcPts val="0"/>
              </a:spcBef>
              <a:spcAft>
                <a:spcPts val="0"/>
              </a:spcAft>
              <a:buNone/>
            </a:pPr>
            <a:r>
              <a:t/>
            </a:r>
            <a:endParaRPr sz="1800">
              <a:solidFill>
                <a:schemeClr val="dk2"/>
              </a:solidFill>
            </a:endParaRPr>
          </a:p>
        </p:txBody>
      </p:sp>
      <p:sp>
        <p:nvSpPr>
          <p:cNvPr id="137" name="Google Shape;137;p24"/>
          <p:cNvSpPr txBox="1"/>
          <p:nvPr>
            <p:ph idx="1" type="body"/>
          </p:nvPr>
        </p:nvSpPr>
        <p:spPr>
          <a:xfrm>
            <a:off x="5945400" y="1174750"/>
            <a:ext cx="2528100" cy="35382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t>Unemployment is defined as the percentage of unemployed people </a:t>
            </a:r>
            <a:r>
              <a:rPr lang="en" sz="1000"/>
              <a:t>divided</a:t>
            </a:r>
            <a:r>
              <a:rPr lang="en" sz="1000"/>
              <a:t> by the population in the labour force for the age group of 20-64 years.</a:t>
            </a:r>
            <a:endParaRPr sz="1000"/>
          </a:p>
          <a:p>
            <a:pPr indent="-292100" lvl="0" marL="457200" rtl="0" algn="l">
              <a:spcBef>
                <a:spcPts val="0"/>
              </a:spcBef>
              <a:spcAft>
                <a:spcPts val="0"/>
              </a:spcAft>
              <a:buSzPts val="1000"/>
              <a:buChar char="●"/>
            </a:pPr>
            <a:r>
              <a:rPr lang="en" sz="1000"/>
              <a:t>GDP PPS is defined as GDP per </a:t>
            </a:r>
            <a:r>
              <a:rPr lang="en" sz="1000"/>
              <a:t>capita</a:t>
            </a:r>
            <a:r>
              <a:rPr lang="en" sz="1000"/>
              <a:t> in a common currency that eliminates the differences in price levels between countries allowing meaningful volume comparisons and is expressed in relation to the European Union average set to equal 100. </a:t>
            </a:r>
            <a:endParaRPr sz="1000"/>
          </a:p>
          <a:p>
            <a:pPr indent="-292100" lvl="0" marL="457200" rtl="0" algn="l">
              <a:spcBef>
                <a:spcPts val="0"/>
              </a:spcBef>
              <a:spcAft>
                <a:spcPts val="0"/>
              </a:spcAft>
              <a:buSzPts val="1000"/>
              <a:buChar char="●"/>
            </a:pPr>
            <a:r>
              <a:rPr lang="en" sz="1000"/>
              <a:t>From the correlation analysis we can inspect that there seem to be a significant correlation between suicide rate and unemployment.</a:t>
            </a:r>
            <a:endParaRPr sz="1000"/>
          </a:p>
          <a:p>
            <a:pPr indent="0" lvl="0" marL="457200" rtl="0" algn="l">
              <a:spcBef>
                <a:spcPts val="1200"/>
              </a:spcBef>
              <a:spcAft>
                <a:spcPts val="1200"/>
              </a:spcAft>
              <a:buNone/>
            </a:pPr>
            <a:r>
              <a:t/>
            </a:r>
            <a:endParaRPr sz="1000"/>
          </a:p>
        </p:txBody>
      </p:sp>
      <p:pic>
        <p:nvPicPr>
          <p:cNvPr id="138" name="Google Shape;138;p24"/>
          <p:cNvPicPr preferRelativeResize="0"/>
          <p:nvPr/>
        </p:nvPicPr>
        <p:blipFill>
          <a:blip r:embed="rId3">
            <a:alphaModFix/>
          </a:blip>
          <a:stretch>
            <a:fillRect/>
          </a:stretch>
        </p:blipFill>
        <p:spPr>
          <a:xfrm>
            <a:off x="311699" y="1174750"/>
            <a:ext cx="4948299" cy="34207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471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61111"/>
              <a:buFont typeface="Arial"/>
              <a:buNone/>
            </a:pPr>
            <a:r>
              <a:rPr lang="en" sz="1800">
                <a:solidFill>
                  <a:schemeClr val="dk2"/>
                </a:solidFill>
              </a:rPr>
              <a:t>Suicide Trends in Greece, 2011-2015</a:t>
            </a:r>
            <a:endParaRPr/>
          </a:p>
          <a:p>
            <a:pPr indent="0" lvl="0" marL="0" rtl="0" algn="l">
              <a:spcBef>
                <a:spcPts val="0"/>
              </a:spcBef>
              <a:spcAft>
                <a:spcPts val="0"/>
              </a:spcAft>
              <a:buNone/>
            </a:pPr>
            <a:r>
              <a:t/>
            </a:r>
            <a:endParaRPr sz="1800">
              <a:solidFill>
                <a:schemeClr val="dk2"/>
              </a:solidFill>
            </a:endParaRPr>
          </a:p>
        </p:txBody>
      </p:sp>
      <p:sp>
        <p:nvSpPr>
          <p:cNvPr id="144" name="Google Shape;144;p25"/>
          <p:cNvSpPr txBox="1"/>
          <p:nvPr>
            <p:ph idx="1" type="body"/>
          </p:nvPr>
        </p:nvSpPr>
        <p:spPr>
          <a:xfrm>
            <a:off x="5945400" y="1174750"/>
            <a:ext cx="2528100" cy="35382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t>Graphically we can also support that there is a correlation between </a:t>
            </a:r>
            <a:r>
              <a:rPr lang="en" sz="1000"/>
              <a:t>suicide rate and unemployment.</a:t>
            </a:r>
            <a:endParaRPr sz="1000"/>
          </a:p>
        </p:txBody>
      </p:sp>
      <p:pic>
        <p:nvPicPr>
          <p:cNvPr id="145" name="Google Shape;145;p25"/>
          <p:cNvPicPr preferRelativeResize="0"/>
          <p:nvPr/>
        </p:nvPicPr>
        <p:blipFill>
          <a:blip r:embed="rId3">
            <a:alphaModFix/>
          </a:blip>
          <a:stretch>
            <a:fillRect/>
          </a:stretch>
        </p:blipFill>
        <p:spPr>
          <a:xfrm>
            <a:off x="608598" y="1438275"/>
            <a:ext cx="4535075" cy="3135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471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chemeClr val="dk2"/>
                </a:solidFill>
              </a:rPr>
              <a:t>Conclusion</a:t>
            </a:r>
            <a:endParaRPr/>
          </a:p>
          <a:p>
            <a:pPr indent="0" lvl="0" marL="0" rtl="0" algn="l">
              <a:spcBef>
                <a:spcPts val="0"/>
              </a:spcBef>
              <a:spcAft>
                <a:spcPts val="0"/>
              </a:spcAft>
              <a:buNone/>
            </a:pPr>
            <a:r>
              <a:t/>
            </a:r>
            <a:endParaRPr sz="1800">
              <a:solidFill>
                <a:schemeClr val="dk2"/>
              </a:solidFill>
            </a:endParaRPr>
          </a:p>
        </p:txBody>
      </p:sp>
      <p:sp>
        <p:nvSpPr>
          <p:cNvPr id="151" name="Google Shape;151;p26"/>
          <p:cNvSpPr txBox="1"/>
          <p:nvPr>
            <p:ph idx="1" type="body"/>
          </p:nvPr>
        </p:nvSpPr>
        <p:spPr>
          <a:xfrm>
            <a:off x="418575" y="1174750"/>
            <a:ext cx="8055000" cy="35382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SzPts val="1000"/>
              <a:buChar char="●"/>
            </a:pPr>
            <a:r>
              <a:rPr lang="en" sz="1000"/>
              <a:t>Suicides in Greece seem to follow an upward trend in comparison to most of EU </a:t>
            </a:r>
            <a:r>
              <a:rPr lang="en" sz="1000"/>
              <a:t>countries</a:t>
            </a:r>
            <a:r>
              <a:rPr lang="en" sz="1000"/>
              <a:t>.</a:t>
            </a:r>
            <a:endParaRPr sz="1000"/>
          </a:p>
          <a:p>
            <a:pPr indent="-292100" lvl="0" marL="457200" rtl="0" algn="l">
              <a:spcBef>
                <a:spcPts val="0"/>
              </a:spcBef>
              <a:spcAft>
                <a:spcPts val="0"/>
              </a:spcAft>
              <a:buSzPts val="1000"/>
              <a:buChar char="●"/>
            </a:pPr>
            <a:r>
              <a:rPr lang="en" sz="1000"/>
              <a:t>Even the upward trend, increase rate of suicides is lower than that of most of the other EU countries, that showed upward trends. </a:t>
            </a:r>
            <a:endParaRPr sz="1000"/>
          </a:p>
          <a:p>
            <a:pPr indent="-292100" lvl="0" marL="457200" rtl="0" algn="l">
              <a:spcBef>
                <a:spcPts val="0"/>
              </a:spcBef>
              <a:spcAft>
                <a:spcPts val="0"/>
              </a:spcAft>
              <a:buSzPts val="1000"/>
              <a:buChar char="●"/>
            </a:pPr>
            <a:r>
              <a:rPr lang="en" sz="1000"/>
              <a:t>Greece is on average the 2nd or 3rd lowest in EU, in terms of suicide standardized rates.</a:t>
            </a:r>
            <a:endParaRPr sz="1000"/>
          </a:p>
          <a:p>
            <a:pPr indent="-292100" lvl="0" marL="457200" rtl="0" algn="l">
              <a:spcBef>
                <a:spcPts val="0"/>
              </a:spcBef>
              <a:spcAft>
                <a:spcPts val="0"/>
              </a:spcAft>
              <a:buSzPts val="1000"/>
              <a:buChar char="●"/>
            </a:pPr>
            <a:r>
              <a:rPr lang="en" sz="1000"/>
              <a:t>In Greece Males seem to be far more prone to commiting suicide than women. Also people between 35-74 are of greater risk.</a:t>
            </a:r>
            <a:endParaRPr sz="1000"/>
          </a:p>
          <a:p>
            <a:pPr indent="-292100" lvl="0" marL="457200" rtl="0" algn="l">
              <a:spcBef>
                <a:spcPts val="0"/>
              </a:spcBef>
              <a:spcAft>
                <a:spcPts val="0"/>
              </a:spcAft>
              <a:buSzPts val="1000"/>
              <a:buChar char="●"/>
            </a:pPr>
            <a:r>
              <a:rPr lang="en" sz="1000"/>
              <a:t>In Greece there seems to be a correlation between the upward trend of suicide rates and the increase of unemployment.</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